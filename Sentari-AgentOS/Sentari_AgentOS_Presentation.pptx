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A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B04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FFFFFF"/>
                </a:solidFill>
                <a:latin typeface="Segoe UI"/>
              </a:rPr>
              <a:t>SENTARI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461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66A32"/>
                </a:solidFill>
                <a:latin typeface="Segoe UI"/>
              </a:rPr>
              <a:t>AGENT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34340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DCE4F0"/>
                </a:solidFill>
                <a:latin typeface="Segoe UI"/>
              </a:rPr>
              <a:t>An operating-system-inspired kernel for scheduling, isolating,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DCE4F0"/>
                </a:solidFill>
                <a:latin typeface="Segoe UI"/>
              </a:rPr>
              <a:t>and safely running multi-agent AI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9436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C6B7C"/>
                </a:solidFill>
                <a:latin typeface="Segoe UI"/>
              </a:rPr>
              <a:t>Vishal Sharma  •  Specialization Project,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4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6DE"/>
                </a:solidFill>
                <a:latin typeface="Segoe U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The problem with multi-agent AI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7C"/>
                </a:solidFill>
                <a:latin typeface="Segoe UI"/>
              </a:rPr>
              <a:t>Sentari — Agent OS  |  Vishal Sharma,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7C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5C6B7C"/>
                </a:solidFill>
                <a:latin typeface="Segoe UI"/>
              </a:rPr>
              <a:t>Frameworks like LangGraph, CrewAI, and AutoGen let agents call each other directly — with no supervisor in the loop.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3108960" cy="765048"/>
          </a:xfrm>
          <a:prstGeom prst="rect">
            <a:avLst/>
          </a:prstGeom>
          <a:solidFill>
            <a:srgbClr val="F5F7FA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80" y="1965960"/>
            <a:ext cx="8092440" cy="765048"/>
          </a:xfrm>
          <a:prstGeom prst="rect">
            <a:avLst/>
          </a:prstGeom>
          <a:solidFill>
            <a:srgbClr val="F5F7FA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75688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A54"/>
                </a:solidFill>
                <a:latin typeface="Segoe UI"/>
              </a:rPr>
              <a:t>No resource 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075688"/>
            <a:ext cx="7772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2430"/>
                </a:solidFill>
                <a:latin typeface="Segoe UI"/>
              </a:rPr>
              <a:t>Any agent can consume unlimited tokens/API calls, starving others or blowing the budget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07208"/>
            <a:ext cx="3108960" cy="765048"/>
          </a:xfrm>
          <a:prstGeom prst="rect">
            <a:avLst/>
          </a:prstGeom>
          <a:solidFill>
            <a:srgbClr val="EEF1F5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2807208"/>
            <a:ext cx="8092440" cy="765048"/>
          </a:xfrm>
          <a:prstGeom prst="rect">
            <a:avLst/>
          </a:prstGeom>
          <a:solidFill>
            <a:srgbClr val="EEF1F5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16936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A54"/>
                </a:solidFill>
                <a:latin typeface="Segoe UI"/>
              </a:rPr>
              <a:t>No isolation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916936"/>
            <a:ext cx="7772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2430"/>
                </a:solidFill>
                <a:latin typeface="Segoe UI"/>
              </a:rPr>
              <a:t>Agents share mutable state directly; a hallucinated value can corrupt another agent's context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648456"/>
            <a:ext cx="3108960" cy="765048"/>
          </a:xfrm>
          <a:prstGeom prst="rect">
            <a:avLst/>
          </a:prstGeom>
          <a:solidFill>
            <a:srgbClr val="F5F7FA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11880" y="3648456"/>
            <a:ext cx="8092440" cy="765048"/>
          </a:xfrm>
          <a:prstGeom prst="rect">
            <a:avLst/>
          </a:prstGeom>
          <a:solidFill>
            <a:srgbClr val="F5F7FA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58184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A54"/>
                </a:solidFill>
                <a:latin typeface="Segoe UI"/>
              </a:rPr>
              <a:t>No deadlock handling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758184"/>
            <a:ext cx="7772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2430"/>
                </a:solidFill>
                <a:latin typeface="Segoe UI"/>
              </a:rPr>
              <a:t>If Agent A waits on B, and B waits on A, the system just hangs — forever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489704"/>
            <a:ext cx="3108960" cy="765048"/>
          </a:xfrm>
          <a:prstGeom prst="rect">
            <a:avLst/>
          </a:prstGeom>
          <a:solidFill>
            <a:srgbClr val="EEF1F5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11880" y="4489704"/>
            <a:ext cx="8092440" cy="765048"/>
          </a:xfrm>
          <a:prstGeom prst="rect">
            <a:avLst/>
          </a:prstGeom>
          <a:solidFill>
            <a:srgbClr val="EEF1F5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599432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A54"/>
                </a:solidFill>
                <a:latin typeface="Segoe UI"/>
              </a:rPr>
              <a:t>No mediated tool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599432"/>
            <a:ext cx="7772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2430"/>
                </a:solidFill>
                <a:latin typeface="Segoe UI"/>
              </a:rPr>
              <a:t>Agents call tools/APIs directly, with no validation, rate-limiting, or audit trail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330952"/>
            <a:ext cx="3108960" cy="765048"/>
          </a:xfrm>
          <a:prstGeom prst="rect">
            <a:avLst/>
          </a:prstGeom>
          <a:solidFill>
            <a:srgbClr val="F5F7FA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11880" y="5330952"/>
            <a:ext cx="8092440" cy="765048"/>
          </a:xfrm>
          <a:prstGeom prst="rect">
            <a:avLst/>
          </a:prstGeom>
          <a:solidFill>
            <a:srgbClr val="F5F7FA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40680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A54"/>
                </a:solidFill>
                <a:latin typeface="Segoe UI"/>
              </a:rPr>
              <a:t>No preemption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5440680"/>
            <a:ext cx="7772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2430"/>
                </a:solidFill>
                <a:latin typeface="Segoe UI"/>
              </a:rPr>
              <a:t>A runaway agent (infinite loop, repeated retries) keeps running until it crashes or a human kills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4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6DE"/>
                </a:solidFill>
                <a:latin typeface="Segoe UI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Sentari is the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7C"/>
                </a:solidFill>
                <a:latin typeface="Segoe UI"/>
              </a:rPr>
              <a:t>Sentari — Agent OS  |  Vishal Sharma,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7C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5C6B7C"/>
                </a:solidFill>
                <a:latin typeface="Segoe UI"/>
              </a:rPr>
              <a:t>A thin middleware kernel that every agent action passes through. It does not replace your agent framework — it wraps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86000"/>
            <a:ext cx="54406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82296" cy="1965960"/>
          </a:xfrm>
          <a:prstGeom prst="rect">
            <a:avLst/>
          </a:prstGeom>
          <a:solidFill>
            <a:srgbClr val="B04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87168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52A54"/>
                </a:solidFill>
                <a:latin typeface="Segoe UI"/>
              </a:rPr>
              <a:t>Scheduler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17520"/>
            <a:ext cx="4892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Fair turns at calling the AI model — round-robin / priority, the same algorithms OSes use for CPU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86000"/>
            <a:ext cx="54406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82296" cy="1965960"/>
          </a:xfrm>
          <a:prstGeom prst="rect">
            <a:avLst/>
          </a:prstGeom>
          <a:solidFill>
            <a:srgbClr val="B04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487168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52A54"/>
                </a:solidFill>
                <a:latin typeface="Segoe UI"/>
              </a:rPr>
              <a:t>Syscall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017520"/>
            <a:ext cx="4892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The only door an agent can use to call a tool, read/write memory, or spawn another agent — checked and logged, every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26280"/>
            <a:ext cx="54406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526280"/>
            <a:ext cx="82296" cy="1965960"/>
          </a:xfrm>
          <a:prstGeom prst="rect">
            <a:avLst/>
          </a:prstGeom>
          <a:solidFill>
            <a:srgbClr val="B04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727448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52A54"/>
                </a:solidFill>
                <a:latin typeface="Segoe UI"/>
              </a:rPr>
              <a:t>Memory 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57800"/>
            <a:ext cx="4892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Each agent gets a private workspace, plus explicit, mediated access to a shared knowledge 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526280"/>
            <a:ext cx="54406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526280"/>
            <a:ext cx="82296" cy="1965960"/>
          </a:xfrm>
          <a:prstGeom prst="rect">
            <a:avLst/>
          </a:prstGeom>
          <a:solidFill>
            <a:srgbClr val="B04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727448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52A54"/>
                </a:solidFill>
                <a:latin typeface="Segoe UI"/>
              </a:rPr>
              <a:t>Deadlock Detector &amp; Preemption 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257800"/>
            <a:ext cx="4892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Watches for circular waits, breaks the cycle, and force-stops any agent that overruns budget or hangs too long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4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6DE"/>
                </a:solidFill>
                <a:latin typeface="Segoe UI"/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7C"/>
                </a:solidFill>
                <a:latin typeface="Segoe UI"/>
              </a:rPr>
              <a:t>Sentari — Agent OS  |  Vishal Sharma,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7C"/>
                </a:solidFill>
                <a:latin typeface="Segoe U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C6B7C"/>
                </a:solidFill>
                <a:latin typeface="Segoe UI"/>
              </a:rPr>
              <a:t>Every arrow is a mediated, logged call — an agent never reaches resources directly.</a:t>
            </a:r>
          </a:p>
        </p:txBody>
      </p:sp>
      <p:pic>
        <p:nvPicPr>
          <p:cNvPr id="9" name="Picture 8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652" y="1783080"/>
            <a:ext cx="679621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4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6DE"/>
                </a:solidFill>
                <a:latin typeface="Segoe UI"/>
              </a:rPr>
              <a:t>CORE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The Agent PCB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7C"/>
                </a:solidFill>
                <a:latin typeface="Segoe UI"/>
              </a:rPr>
              <a:t>Sentari — Agent OS  |  Vishal Sharma,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7C"/>
                </a:solidFill>
                <a:latin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0">
                <a:solidFill>
                  <a:srgbClr val="1B2430"/>
                </a:solidFill>
                <a:latin typeface="Segoe UI"/>
              </a:rPr>
              <a:t>▸  Every agent is tracked by a Process Control Block — the same concept real OSes use for running programs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0">
                <a:solidFill>
                  <a:srgbClr val="1B2430"/>
                </a:solidFill>
                <a:latin typeface="Segoe UI"/>
              </a:rPr>
              <a:t>▸  agent_id, parent_id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5C6B7C"/>
                </a:solidFill>
                <a:latin typeface="Segoe UI"/>
              </a:rPr>
              <a:t>     for spawned sub-agents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0">
                <a:solidFill>
                  <a:srgbClr val="1B2430"/>
                </a:solidFill>
                <a:latin typeface="Segoe UI"/>
              </a:rPr>
              <a:t>▸  state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5C6B7C"/>
                </a:solidFill>
                <a:latin typeface="Segoe UI"/>
              </a:rPr>
              <a:t>     NEW → READY → RUNNING → BLOCKED → TERMINATED / KILLED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0">
                <a:solidFill>
                  <a:srgbClr val="1B2430"/>
                </a:solidFill>
                <a:latin typeface="Segoe UI"/>
              </a:rPr>
              <a:t>▸  priority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5C6B7C"/>
                </a:solidFill>
                <a:latin typeface="Segoe UI"/>
              </a:rPr>
              <a:t>     drives scheduling order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0">
                <a:solidFill>
                  <a:srgbClr val="1B2430"/>
                </a:solidFill>
                <a:latin typeface="Segoe UI"/>
              </a:rPr>
              <a:t>▸  quota_total / quota_used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5C6B7C"/>
                </a:solidFill>
                <a:latin typeface="Segoe UI"/>
              </a:rPr>
              <a:t>     token / API-call budget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0">
                <a:solidFill>
                  <a:srgbClr val="1B2430"/>
                </a:solidFill>
                <a:latin typeface="Segoe UI"/>
              </a:rPr>
              <a:t>▸  Exhaust quota, deadlock, or time out while blocked → the kernel forces KILLED and reclaims everything held</a:t>
            </a:r>
          </a:p>
        </p:txBody>
      </p:sp>
      <p:pic>
        <p:nvPicPr>
          <p:cNvPr id="9" name="Picture 8" descr="agent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603504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4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6DE"/>
                </a:solidFill>
                <a:latin typeface="Segoe UI"/>
              </a:rPr>
              <a:t>CORE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Scheduling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7C"/>
                </a:solidFill>
                <a:latin typeface="Segoe UI"/>
              </a:rPr>
              <a:t>Sentari — Agent OS  |  Vishal Sharma,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7C"/>
                </a:solidFill>
                <a:latin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B2430"/>
                </a:solidFill>
                <a:latin typeface="Segoe UI"/>
              </a:rPr>
              <a:t>Every syscall is checked against remaining quota before it's allowed to run; dispatched fairly (round-robin / priority) if quota allows.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86000"/>
            <a:ext cx="5486400" cy="3108960"/>
          </a:xfrm>
          <a:prstGeom prst="rect">
            <a:avLst/>
          </a:prstGeom>
          <a:solidFill>
            <a:srgbClr val="15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502920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CE4F0"/>
                </a:solidFill>
                <a:latin typeface="Consolas"/>
              </a:rPr>
              <a:t>function on_syscall(agent, request):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CE4F0"/>
                </a:solidFill>
                <a:latin typeface="Consolas"/>
              </a:rPr>
              <a:t>    if agent.quota_used &gt;= agent.quota_total: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CE4F0"/>
                </a:solidFill>
                <a:latin typeface="Consolas"/>
              </a:rPr>
              <a:t>        preempt(agent); return DENY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CE4F0"/>
                </a:solidFill>
                <a:latin typeface="Consolas"/>
              </a:rPr>
              <a:t>    enqueue(scheduler_queue, agent, request)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CE4F0"/>
                </a:solidFill>
                <a:latin typeface="Consolas"/>
              </a:rPr>
              <a:t>    wait_for_turn(agent)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CE4F0"/>
                </a:solidFill>
                <a:latin typeface="Consolas"/>
              </a:rPr>
              <a:t>    result = execute(request)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CE4F0"/>
                </a:solidFill>
                <a:latin typeface="Consolas"/>
              </a:rPr>
              <a:t>    agent.quota_used += cost(request)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CE4F0"/>
                </a:solidFill>
                <a:latin typeface="Consolas"/>
              </a:rPr>
              <a:t>    log(agent, request, result)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CE4F0"/>
                </a:solidFill>
                <a:latin typeface="Consolas"/>
              </a:rPr>
              <a:t>    return result</a:t>
            </a:r>
          </a:p>
        </p:txBody>
      </p:sp>
      <p:pic>
        <p:nvPicPr>
          <p:cNvPr id="11" name="Picture 10" descr="scheduler_algorit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094" y="1280160"/>
            <a:ext cx="3831771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4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6DE"/>
                </a:solidFill>
                <a:latin typeface="Segoe UI"/>
              </a:rPr>
              <a:t>CORE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Deadlock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7C"/>
                </a:solidFill>
                <a:latin typeface="Segoe UI"/>
              </a:rPr>
              <a:t>Sentari — Agent OS  |  Vishal Sharma,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7C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5486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B2430"/>
                </a:solidFill>
                <a:latin typeface="Segoe UI"/>
              </a:rPr>
              <a:t>When A blocks on a resource held by B, an edge A→B is added to a wait-for graph. Cycle detection (DFS) runs immediately on every new edge — not on a periodic sweep.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77440"/>
            <a:ext cx="5486400" cy="2651760"/>
          </a:xfrm>
          <a:prstGeom prst="rect">
            <a:avLst/>
          </a:prstGeom>
          <a:solidFill>
            <a:srgbClr val="15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50292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CE4F0"/>
                </a:solidFill>
                <a:latin typeface="Consolas"/>
              </a:rPr>
              <a:t>function add_wait_edge(waiter, holder):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CE4F0"/>
                </a:solidFill>
                <a:latin typeface="Consolas"/>
              </a:rPr>
              <a:t>    graph.add_edge(waiter, holder)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CE4F0"/>
                </a:solidFill>
                <a:latin typeface="Consolas"/>
              </a:rPr>
              <a:t>    if has_cycle(graph, start=waiter):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CE4F0"/>
                </a:solidFill>
                <a:latin typeface="Consolas"/>
              </a:rPr>
              <a:t>        cycle = extract_cycle(graph, waiter)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CE4F0"/>
                </a:solidFill>
                <a:latin typeface="Consolas"/>
              </a:rPr>
              <a:t>        victim = min(cycle, key=priority)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CE4F0"/>
                </a:solidFill>
                <a:latin typeface="Consolas"/>
              </a:rPr>
              <a:t>        preempt_or_kill(victim)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CE4F0"/>
                </a:solidFill>
                <a:latin typeface="Consolas"/>
              </a:rPr>
              <a:t>        graph.remove_edges_for(victim)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166360"/>
            <a:ext cx="5486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C6B7C"/>
                </a:solidFill>
                <a:latin typeface="Segoe UI"/>
              </a:rPr>
              <a:t>Complexity: O(V+E) over the current wait-for graph, bounded by agents currently blocked — detection is effectively immediate.</a:t>
            </a:r>
          </a:p>
        </p:txBody>
      </p:sp>
      <p:pic>
        <p:nvPicPr>
          <p:cNvPr id="12" name="Picture 11" descr="deadlock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816331"/>
            <a:ext cx="5440680" cy="39568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4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6DE"/>
                </a:solidFill>
                <a:latin typeface="Segoe UI"/>
              </a:rPr>
              <a:t>CORE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Preemption &amp; the kill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7C"/>
                </a:solidFill>
                <a:latin typeface="Segoe UI"/>
              </a:rPr>
              <a:t>Sentari — Agent OS  |  Vishal Sharma,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7C"/>
                </a:solidFill>
                <a:latin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1700" b="0">
                <a:solidFill>
                  <a:srgbClr val="1B2430"/>
                </a:solidFill>
                <a:latin typeface="Segoe UI"/>
              </a:rPr>
              <a:t>▸  Admission-time quota denial</a:t>
            </a:r>
          </a:p>
          <a:p>
            <a:pPr>
              <a:spcAft>
                <a:spcPts val="2200"/>
              </a:spcAft>
            </a:pPr>
            <a:r>
              <a:rPr sz="1400">
                <a:solidFill>
                  <a:srgbClr val="5C6B7C"/>
                </a:solidFill>
                <a:latin typeface="Segoe UI"/>
              </a:rPr>
              <a:t>     exact, no partial execution — checked before a syscall ever runs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1700" b="0">
                <a:solidFill>
                  <a:srgbClr val="1B2430"/>
                </a:solidFill>
                <a:latin typeface="Segoe UI"/>
              </a:rPr>
              <a:t>▸  Timeout-bounded preemption</a:t>
            </a:r>
          </a:p>
          <a:p>
            <a:pPr>
              <a:spcAft>
                <a:spcPts val="2200"/>
              </a:spcAft>
            </a:pPr>
            <a:r>
              <a:rPr sz="1400">
                <a:solidFill>
                  <a:srgbClr val="5C6B7C"/>
                </a:solidFill>
                <a:latin typeface="Segoe UI"/>
              </a:rPr>
              <a:t>     asyncio.wait_for(...) forces a slow/stuck syscall to return the agent to READY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1700" b="0">
                <a:solidFill>
                  <a:srgbClr val="1B2430"/>
                </a:solidFill>
                <a:latin typeface="Segoe UI"/>
              </a:rPr>
              <a:t>▸  Force-kill on deadlock or blocked-timeout</a:t>
            </a:r>
          </a:p>
          <a:p>
            <a:pPr>
              <a:spcAft>
                <a:spcPts val="2200"/>
              </a:spcAft>
            </a:pPr>
            <a:r>
              <a:rPr sz="1400">
                <a:solidFill>
                  <a:srgbClr val="5C6B7C"/>
                </a:solidFill>
                <a:latin typeface="Segoe UI"/>
              </a:rPr>
              <a:t>     the KillManager transitions the agent to KILLED and force-yields the scheduler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1700" b="0">
                <a:solidFill>
                  <a:srgbClr val="1B2430"/>
                </a:solidFill>
                <a:latin typeface="Segoe UI"/>
              </a:rPr>
              <a:t>▸  Full resource release</a:t>
            </a:r>
          </a:p>
          <a:p>
            <a:pPr>
              <a:spcAft>
                <a:spcPts val="2200"/>
              </a:spcAft>
            </a:pPr>
            <a:r>
              <a:rPr sz="1400">
                <a:solidFill>
                  <a:srgbClr val="5C6B7C"/>
                </a:solidFill>
                <a:latin typeface="Segoe UI"/>
              </a:rPr>
              <a:t>     every resource the killed/terminated agent held is released back to waiters (FR-17)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4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6DE"/>
                </a:solidFill>
                <a:latin typeface="Segoe U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Live control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7C"/>
                </a:solidFill>
                <a:latin typeface="Segoe UI"/>
              </a:rPr>
              <a:t>Sentari — Agent OS  |  Vishal Sharma,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7C"/>
                </a:solidFill>
                <a:latin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5C6B7C"/>
                </a:solidFill>
                <a:latin typeface="Segoe UI"/>
              </a:rPr>
              <a:t>A FastAPI app polling the real kernel and SQLite twice a second — nothing on screen is staged.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3611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011680"/>
            <a:ext cx="3611880" cy="502920"/>
          </a:xfrm>
          <a:prstGeom prst="rect">
            <a:avLst/>
          </a:prstGeom>
          <a:solidFill>
            <a:srgbClr val="15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2140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Active Agents (PCB)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3154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Live state, priority, quota bars, held/waiting resources for every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2011680"/>
            <a:ext cx="3611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2011680"/>
            <a:ext cx="3611880" cy="502920"/>
          </a:xfrm>
          <a:prstGeom prst="rect">
            <a:avLst/>
          </a:prstGeom>
          <a:solidFill>
            <a:srgbClr val="15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12140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Wait-For Graph + Resources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651760"/>
            <a:ext cx="3154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Blocking edges rendered live; deadlock cycles highlighted the instant they 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2011680"/>
            <a:ext cx="3611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2011680"/>
            <a:ext cx="3611880" cy="502920"/>
          </a:xfrm>
          <a:prstGeom prst="rect">
            <a:avLst/>
          </a:prstGeom>
          <a:solidFill>
            <a:srgbClr val="15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212140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Syscall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51760"/>
            <a:ext cx="3154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Every mediated call — agent, type, args, result — streamed live, filterable by agent/result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2120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C6B7C"/>
                </a:solidFill>
                <a:latin typeface="Segoe UI"/>
              </a:rPr>
              <a:t>Plus: manual “Cockpit” to admit agents on demand, a Standard Tour / Before-After deadlock scenario switcher, and one-click restart.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4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6DE"/>
                </a:solidFill>
                <a:latin typeface="Segoe U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Same deadlock, mediated vs. unmediated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7C"/>
                </a:solidFill>
                <a:latin typeface="Segoe UI"/>
              </a:rPr>
              <a:t>Sentari — Agent OS  |  Vishal Sharma,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7C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5C6B7C"/>
                </a:solidFill>
                <a:latin typeface="Segoe UI"/>
              </a:rPr>
              <a:t>The dashboard drives the identical two-agent circular-wait scenario twice, side by side.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5212080" cy="3291840"/>
          </a:xfrm>
          <a:prstGeom prst="rect">
            <a:avLst/>
          </a:prstGeom>
          <a:solidFill>
            <a:srgbClr val="FBE2E0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82296" cy="3291840"/>
          </a:xfrm>
          <a:prstGeom prst="rect">
            <a:avLst/>
          </a:prstGeom>
          <a:solidFill>
            <a:srgbClr val="C4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146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4342A"/>
                </a:solidFill>
                <a:latin typeface="Segoe UI"/>
              </a:rPr>
              <a:t>WITHOUT SENTARI (raw asyncio)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63240"/>
            <a:ext cx="46634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B2430"/>
                </a:solidFill>
                <a:latin typeface="Segoe UI"/>
              </a:rPr>
              <a:t>Agent A waits on B, B waits on A.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B2430"/>
                </a:solidFill>
                <a:latin typeface="Segoe UI"/>
              </a:rPr>
              <a:t>No supervisor is watching.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B2430"/>
                </a:solidFill>
                <a:latin typeface="Segoe UI"/>
              </a:rPr>
              <a:t>The program hangs — indefinitely.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B2430"/>
                </a:solidFill>
                <a:latin typeface="Segoe UI"/>
              </a:rPr>
              <a:t>Only a manual kill (or a crash) ends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286000"/>
            <a:ext cx="5212080" cy="3291840"/>
          </a:xfrm>
          <a:prstGeom prst="rect">
            <a:avLst/>
          </a:prstGeom>
          <a:solidFill>
            <a:srgbClr val="E3F5EC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2286000"/>
            <a:ext cx="82296" cy="3291840"/>
          </a:xfrm>
          <a:prstGeom prst="rect">
            <a:avLst/>
          </a:prstGeom>
          <a:solidFill>
            <a:srgbClr val="1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5146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8F5A"/>
                </a:solidFill>
                <a:latin typeface="Segoe UI"/>
              </a:rPr>
              <a:t>WITH SENTARI (kernel-mediated)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63240"/>
            <a:ext cx="46634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B2430"/>
                </a:solidFill>
                <a:latin typeface="Segoe UI"/>
              </a:rPr>
              <a:t>The wait-for graph detects the cycle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B2430"/>
                </a:solidFill>
                <a:latin typeface="Segoe UI"/>
              </a:rPr>
              <a:t>the instant it forms.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B2430"/>
                </a:solidFill>
                <a:latin typeface="Segoe UI"/>
              </a:rPr>
              <a:t>The lower-priority agent is killed,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B2430"/>
                </a:solidFill>
                <a:latin typeface="Segoe UI"/>
              </a:rPr>
              <a:t>its resource released, the other proceeds.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B2430"/>
                </a:solidFill>
                <a:latin typeface="Segoe UI"/>
              </a:rPr>
              <a:t>Total time: milliseconds, not forever.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4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6DE"/>
                </a:solidFill>
                <a:latin typeface="Segoe U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MCP Bridge — live from Claude Desktop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7C"/>
                </a:solidFill>
                <a:latin typeface="Segoe UI"/>
              </a:rPr>
              <a:t>Sentari — Agent OS  |  Vishal Sharma,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7C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1B2430"/>
                </a:solidFill>
                <a:latin typeface="Segoe UI"/>
              </a:rPr>
              <a:t>▸  scripts/mcp_bridge.py runs as a real MCP server</a:t>
            </a:r>
          </a:p>
          <a:p>
            <a:pPr>
              <a:spcAft>
                <a:spcPts val="1400"/>
              </a:spcAft>
            </a:pPr>
            <a:r>
              <a:rPr sz="1300">
                <a:solidFill>
                  <a:srgbClr val="5C6B7C"/>
                </a:solidFill>
                <a:latin typeface="Segoe UI"/>
              </a:rPr>
              <a:t>     registered in Claude Desktop like any other connector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1B2430"/>
                </a:solidFill>
                <a:latin typeface="Segoe UI"/>
              </a:rPr>
              <a:t>▸  Exposes 4 tools</a:t>
            </a:r>
          </a:p>
          <a:p>
            <a:pPr>
              <a:spcAft>
                <a:spcPts val="1400"/>
              </a:spcAft>
            </a:pPr>
            <a:r>
              <a:rPr sz="1300">
                <a:solidFill>
                  <a:srgbClr val="5C6B7C"/>
                </a:solidFill>
                <a:latin typeface="Segoe UI"/>
              </a:rPr>
              <a:t>     sentari_write_file, sentari_read_file, sentari_note, sentari_status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1B2430"/>
                </a:solidFill>
                <a:latin typeface="Segoe UI"/>
              </a:rPr>
              <a:t>▸  Every call from an actual live chat is relayed over HTTP into the running kernel</a:t>
            </a:r>
          </a:p>
          <a:p>
            <a:pPr>
              <a:spcAft>
                <a:spcPts val="1400"/>
              </a:spcAft>
            </a:pPr>
            <a:r>
              <a:rPr sz="1300">
                <a:solidFill>
                  <a:srgbClr val="5C6B7C"/>
                </a:solidFill>
                <a:latin typeface="Segoe UI"/>
              </a:rPr>
              <a:t>     the exact same SyscallLayer.on_syscall path as any other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23360"/>
            <a:ext cx="10698480" cy="2011680"/>
          </a:xfrm>
          <a:prstGeom prst="rect">
            <a:avLst/>
          </a:prstGeom>
          <a:solidFill>
            <a:srgbClr val="15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1498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quota-checked  →  resource-locked (deadlock-safe even against a colliding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write)  →  audit-logged  →  visible live on the dashboard while it happens.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4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6DE"/>
                </a:solidFill>
                <a:latin typeface="Segoe UI"/>
              </a:rPr>
              <a:t>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7C"/>
                </a:solidFill>
                <a:latin typeface="Segoe UI"/>
              </a:rPr>
              <a:t>Sentari — Agent OS  |  Vishal Sharma,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7C"/>
                </a:solidFill>
                <a:latin typeface="Segoe U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3291840" cy="570992"/>
          </a:xfrm>
          <a:prstGeom prst="rect">
            <a:avLst/>
          </a:prstGeom>
          <a:solidFill>
            <a:srgbClr val="F5F7FA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0" y="1417320"/>
            <a:ext cx="7863840" cy="570992"/>
          </a:xfrm>
          <a:prstGeom prst="rect">
            <a:avLst/>
          </a:prstGeom>
          <a:solidFill>
            <a:srgbClr val="F5F7FA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90472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52A54"/>
                </a:solidFill>
                <a:latin typeface="Segoe UI"/>
              </a:rPr>
              <a:t>Core kernel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490472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Python 3.11+ (asyncio, dataclasses)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039112"/>
            <a:ext cx="3291840" cy="570992"/>
          </a:xfrm>
          <a:prstGeom prst="rect">
            <a:avLst/>
          </a:prstGeom>
          <a:solidFill>
            <a:srgbClr val="EEF1F5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2039112"/>
            <a:ext cx="7863840" cy="570992"/>
          </a:xfrm>
          <a:prstGeom prst="rect">
            <a:avLst/>
          </a:prstGeom>
          <a:solidFill>
            <a:srgbClr val="EEF1F5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112264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52A54"/>
                </a:solidFill>
                <a:latin typeface="Segoe UI"/>
              </a:rPr>
              <a:t>LLM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112264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Anthropic / OpenAI API — pluggable provider interface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660904"/>
            <a:ext cx="3291840" cy="570992"/>
          </a:xfrm>
          <a:prstGeom prst="rect">
            <a:avLst/>
          </a:prstGeom>
          <a:solidFill>
            <a:srgbClr val="F5F7FA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0" y="2660904"/>
            <a:ext cx="7863840" cy="570992"/>
          </a:xfrm>
          <a:prstGeom prst="rect">
            <a:avLst/>
          </a:prstGeom>
          <a:solidFill>
            <a:srgbClr val="F5F7FA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734056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52A54"/>
                </a:solidFill>
                <a:latin typeface="Segoe UI"/>
              </a:rPr>
              <a:t>Frameworks wrapped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734056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LangGraph, CrewAI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82696"/>
            <a:ext cx="3291840" cy="570992"/>
          </a:xfrm>
          <a:prstGeom prst="rect">
            <a:avLst/>
          </a:prstGeom>
          <a:solidFill>
            <a:srgbClr val="EEF1F5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0" y="3282696"/>
            <a:ext cx="7863840" cy="570992"/>
          </a:xfrm>
          <a:prstGeom prst="rect">
            <a:avLst/>
          </a:prstGeom>
          <a:solidFill>
            <a:srgbClr val="EEF1F5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35584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52A54"/>
                </a:solidFill>
                <a:latin typeface="Segoe UI"/>
              </a:rPr>
              <a:t>Persistence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355848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SQLite — PCB store + syscall audit log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904488"/>
            <a:ext cx="3291840" cy="570992"/>
          </a:xfrm>
          <a:prstGeom prst="rect">
            <a:avLst/>
          </a:prstGeom>
          <a:solidFill>
            <a:srgbClr val="F5F7FA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0" y="3904488"/>
            <a:ext cx="7863840" cy="570992"/>
          </a:xfrm>
          <a:prstGeom prst="rect">
            <a:avLst/>
          </a:prstGeom>
          <a:solidFill>
            <a:srgbClr val="F5F7FA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977640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52A54"/>
                </a:solidFill>
                <a:latin typeface="Segoe UI"/>
              </a:rPr>
              <a:t>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977640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FastAPI + lightweight live web UI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526280"/>
            <a:ext cx="3291840" cy="570992"/>
          </a:xfrm>
          <a:prstGeom prst="rect">
            <a:avLst/>
          </a:prstGeom>
          <a:solidFill>
            <a:srgbClr val="EEF1F5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40480" y="4526280"/>
            <a:ext cx="7863840" cy="570992"/>
          </a:xfrm>
          <a:prstGeom prst="rect">
            <a:avLst/>
          </a:prstGeom>
          <a:solidFill>
            <a:srgbClr val="EEF1F5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599432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52A54"/>
                </a:solidFill>
                <a:latin typeface="Segoe UI"/>
              </a:rPr>
              <a:t>Testing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4599432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pytest + scripted fault-injection (forced deadlocks, runaway agents)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148072"/>
            <a:ext cx="3291840" cy="570992"/>
          </a:xfrm>
          <a:prstGeom prst="rect">
            <a:avLst/>
          </a:prstGeom>
          <a:solidFill>
            <a:srgbClr val="F5F7FA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40480" y="5148072"/>
            <a:ext cx="7863840" cy="570992"/>
          </a:xfrm>
          <a:prstGeom prst="rect">
            <a:avLst/>
          </a:prstGeom>
          <a:solidFill>
            <a:srgbClr val="F5F7FA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221224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52A54"/>
                </a:solidFill>
                <a:latin typeface="Segoe UI"/>
              </a:rPr>
              <a:t>Packaging / tooling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5221224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uv, ruff, src/-layout package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769864"/>
            <a:ext cx="3291840" cy="570992"/>
          </a:xfrm>
          <a:prstGeom prst="rect">
            <a:avLst/>
          </a:prstGeom>
          <a:solidFill>
            <a:srgbClr val="EEF1F5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40480" y="5769864"/>
            <a:ext cx="7863840" cy="570992"/>
          </a:xfrm>
          <a:prstGeom prst="rect">
            <a:avLst/>
          </a:prstGeom>
          <a:solidFill>
            <a:srgbClr val="EEF1F5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843016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52A54"/>
                </a:solidFill>
                <a:latin typeface="Segoe UI"/>
              </a:rPr>
              <a:t>Live demo integration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0" y="5843016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MCP (Model Context Protocol) bridge into Claude Desktop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4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6DE"/>
                </a:solidFill>
                <a:latin typeface="Segoe UI"/>
              </a:rPr>
              <a:t>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Rigor: tests &amp; traceability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7C"/>
                </a:solidFill>
                <a:latin typeface="Segoe UI"/>
              </a:rPr>
              <a:t>Sentari — Agent OS  |  Vishal Sharma,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7C"/>
                </a:solidFill>
                <a:latin typeface="Segoe U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3520440" cy="1554480"/>
          </a:xfrm>
          <a:prstGeom prst="rect">
            <a:avLst/>
          </a:prstGeom>
          <a:solidFill>
            <a:srgbClr val="15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3520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D66A32"/>
                </a:solidFill>
                <a:latin typeface="Segoe UI"/>
              </a:rPr>
              <a:t>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3154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passing tests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371600"/>
            <a:ext cx="3520440" cy="1554480"/>
          </a:xfrm>
          <a:prstGeom prst="rect">
            <a:avLst/>
          </a:prstGeom>
          <a:solidFill>
            <a:srgbClr val="15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3520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D66A32"/>
                </a:solidFill>
                <a:latin typeface="Segoe UI"/>
              </a:rPr>
              <a:t>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48840"/>
            <a:ext cx="3154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functional requirements (FR-1..17)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mapped to 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1371600"/>
            <a:ext cx="3520440" cy="1554480"/>
          </a:xfrm>
          <a:prstGeom prst="rect">
            <a:avLst/>
          </a:prstGeom>
          <a:solidFill>
            <a:srgbClr val="15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1463040"/>
            <a:ext cx="3520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D66A32"/>
                </a:solidFill>
                <a:latin typeface="Segoe U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148840"/>
            <a:ext cx="3154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independently testable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kernel subsystems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9184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0">
                <a:solidFill>
                  <a:srgbClr val="1B2430"/>
                </a:solidFill>
                <a:latin typeface="Segoe UI"/>
              </a:rPr>
              <a:t>▸  Every FR maps to a module and a verifying test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5C6B7C"/>
                </a:solidFill>
                <a:latin typeface="Segoe UI"/>
              </a:rPr>
              <a:t>     e.g. FR-13 (cycle detection) → deadlock/detector.py → tests/test_deadlock.py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0">
                <a:solidFill>
                  <a:srgbClr val="1B2430"/>
                </a:solidFill>
                <a:latin typeface="Segoe UI"/>
              </a:rPr>
              <a:t>▸  Reliability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5C6B7C"/>
                </a:solidFill>
                <a:latin typeface="Segoe UI"/>
              </a:rPr>
              <a:t>     SyscallLayer.on_syscall catches all exceptions — one failing tool never crashes the kernel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0">
                <a:solidFill>
                  <a:srgbClr val="1B2430"/>
                </a:solidFill>
                <a:latin typeface="Segoe UI"/>
              </a:rPr>
              <a:t>▸  Auditability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5C6B7C"/>
                </a:solidFill>
                <a:latin typeface="Segoe UI"/>
              </a:rPr>
              <a:t>     every decision reconstructable from syscall_log + agents + resource_allocation tables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0">
                <a:solidFill>
                  <a:srgbClr val="1B2430"/>
                </a:solidFill>
                <a:latin typeface="Segoe UI"/>
              </a:rPr>
              <a:t>▸  Scalability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5C6B7C"/>
                </a:solidFill>
                <a:latin typeface="Segoe UI"/>
              </a:rPr>
              <a:t>     verified with 20 concurrently registered agents in tests/test_kernel_integration.py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4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6DE"/>
                </a:solidFill>
                <a:latin typeface="Segoe U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Why it matters, and 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7C"/>
                </a:solidFill>
                <a:latin typeface="Segoe UI"/>
              </a:rPr>
              <a:t>Sentari — Agent OS  |  Vishal Sharma,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B7C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430"/>
                </a:solidFill>
                <a:latin typeface="Segoe UI"/>
              </a:rPr>
              <a:t>Aligns with UN SDG 9 (Industry, Innovation &amp; Infrastructure) — governance infrastructure for trustworthy multi-agent AI — and SDG 12 (Responsible Consumption &amp; Production), since quota enforcement and preemption directly cut wasted compute.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774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8F5A"/>
                </a:solidFill>
                <a:latin typeface="Segoe UI"/>
              </a:rPr>
              <a:t>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✓  PCB model + registration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✓  Scheduler (round-robin, priority + aging)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38144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✓  Syscall layer, validated + audit-logged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8561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✓  Memory isolation + shared KB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33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✓  Wait-for graph + cycle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4805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✓  Preemption &amp; kill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2803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✓  Live observability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175504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✓  MCP bridge into Claude Desktop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774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04A1D"/>
                </a:solidFill>
                <a:latin typeface="Segoe UI"/>
              </a:rPr>
              <a:t>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43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▢  Fault-injection test suite (scripted)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09067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▢  Fairness &amp; overhead benchmark vs. unmanaged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438144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▢  LangGraph middleware adapter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78561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▢  Dashboard/email notifications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A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94760"/>
            <a:ext cx="12191695" cy="38100"/>
          </a:xfrm>
          <a:prstGeom prst="rect">
            <a:avLst/>
          </a:prstGeom>
          <a:solidFill>
            <a:srgbClr val="B04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52044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D66A32"/>
                </a:solidFill>
                <a:latin typeface="Segoe U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11480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9C6DE"/>
                </a:solidFill>
                <a:latin typeface="Segoe UI"/>
              </a:rPr>
              <a:t>github.com/Vishalsym/Sentari-AgentOS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